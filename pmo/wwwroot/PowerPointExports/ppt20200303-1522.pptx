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ＭＳ Ｐゴシック" panose="020B0600070205080204" pitchFamily="34" charset="-128"/>
      <p:regular r:id="rId17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ヒラギノ角ゴ Pro W3"/>
        <a:cs typeface="ヒラギノ角ゴ Pro W3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TT_PPT_cover1.png"/>
          <p:cNvPicPr>
            <a:picLocks/>
          </p:cNvPicPr>
          <p:nvPr/>
        </p:nvPicPr>
        <p:blipFill>
          <a:blip r:embed="rId2"/>
          <a:srcRect l="4779" t="34" r="220" b="-3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9D2235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81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TT_cover_ppt_blue1.png"/>
          <p:cNvPicPr>
            <a:picLocks noChangeAspect="1"/>
          </p:cNvPicPr>
          <p:nvPr/>
        </p:nvPicPr>
        <p:blipFill>
          <a:blip r:embed="rId2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4C418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C418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4C4184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82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ITT_cover_ppt_taupe1.png"/>
          <p:cNvPicPr>
            <a:picLocks noChangeAspect="1"/>
          </p:cNvPicPr>
          <p:nvPr/>
        </p:nvPicPr>
        <p:blipFill>
          <a:blip r:embed="rId2"/>
          <a:srcRect l="4796" t="3" r="237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85787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857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857874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15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TT_PPT_cover_orange1.png"/>
          <p:cNvPicPr>
            <a:picLocks noChangeAspect="1"/>
          </p:cNvPicPr>
          <p:nvPr/>
        </p:nvPicPr>
        <p:blipFill>
          <a:blip r:embed="rId2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D45D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D45D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chemeClr val="accent5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8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ITT_PPT_cover2.png"/>
          <p:cNvPicPr>
            <a:picLocks/>
          </p:cNvPicPr>
          <p:nvPr/>
        </p:nvPicPr>
        <p:blipFill>
          <a:blip r:embed="rId3"/>
          <a:srcRect l="4779" t="34" r="220" b="-3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9D2235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70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ITT_cover_ppt_blu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4C418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4C418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4C4184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 descr="ITT_cover_ppt_taup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857874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857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857874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7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106451894_FPO.jpg"/>
          <p:cNvPicPr>
            <a:picLocks/>
          </p:cNvPicPr>
          <p:nvPr/>
        </p:nvPicPr>
        <p:blipFill>
          <a:blip r:embed="rId2"/>
          <a:srcRect r="32207"/>
          <a:stretch>
            <a:fillRect/>
          </a:stretch>
        </p:blipFill>
        <p:spPr bwMode="auto">
          <a:xfrm>
            <a:off x="3943350" y="0"/>
            <a:ext cx="520065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ITT_PPT_cover_orange2.png"/>
          <p:cNvPicPr>
            <a:picLocks noChangeAspect="1"/>
          </p:cNvPicPr>
          <p:nvPr/>
        </p:nvPicPr>
        <p:blipFill>
          <a:blip r:embed="rId3"/>
          <a:srcRect l="4796" t="3" r="238" b="-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" y="3255264"/>
            <a:ext cx="5184648" cy="1188720"/>
          </a:xfrm>
        </p:spPr>
        <p:txBody>
          <a:bodyPr>
            <a:noAutofit/>
          </a:bodyPr>
          <a:lstStyle>
            <a:lvl1pPr>
              <a:defRPr sz="4000">
                <a:solidFill>
                  <a:srgbClr val="D45D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" y="4517136"/>
            <a:ext cx="3886200" cy="77724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D45D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30213" y="2779713"/>
            <a:ext cx="3886200" cy="365125"/>
          </a:xfrm>
        </p:spPr>
        <p:txBody>
          <a:bodyPr anchor="t"/>
          <a:lstStyle>
            <a:lvl1pPr algn="l">
              <a:defRPr sz="1300" smtClean="0">
                <a:solidFill>
                  <a:srgbClr val="D45D00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6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11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ITT_PPT_divider1.png"/>
          <p:cNvPicPr>
            <a:picLocks/>
          </p:cNvPicPr>
          <p:nvPr/>
        </p:nvPicPr>
        <p:blipFill>
          <a:blip r:embed="rId2"/>
          <a:srcRect l="4779" r="22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28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TT_PPT_divider_blue1.png"/>
          <p:cNvPicPr>
            <a:picLocks noChangeAspect="1"/>
          </p:cNvPicPr>
          <p:nvPr/>
        </p:nvPicPr>
        <p:blipFill>
          <a:blip r:embed="rId2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19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ITT_PPT_divider_taupe1.png"/>
          <p:cNvPicPr>
            <a:picLocks noChangeAspect="1"/>
          </p:cNvPicPr>
          <p:nvPr/>
        </p:nvPicPr>
        <p:blipFill>
          <a:blip r:embed="rId2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Autofit/>
          </a:bodyPr>
          <a:lstStyle>
            <a:lvl1pPr algn="l">
              <a:defRPr sz="5000" b="0" cap="none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95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ITT_PPT_divider2.png"/>
          <p:cNvPicPr>
            <a:picLocks/>
          </p:cNvPicPr>
          <p:nvPr/>
        </p:nvPicPr>
        <p:blipFill>
          <a:blip r:embed="rId3"/>
          <a:srcRect l="4997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rgbClr val="000000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Title goes here.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74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13" descr="ITT_PPT_divider_blue2.png"/>
          <p:cNvPicPr>
            <a:picLocks noChangeAspect="1"/>
          </p:cNvPicPr>
          <p:nvPr/>
        </p:nvPicPr>
        <p:blipFill>
          <a:blip r:embed="rId3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1"/>
          <p:cNvSpPr txBox="1">
            <a:spLocks/>
          </p:cNvSpPr>
          <p:nvPr/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rgbClr val="000000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2860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7432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32004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657600" algn="l" defTabSz="457200" rtl="0" eaLnBrk="1" latinLnBrk="0" hangingPunct="1">
              <a:defRPr sz="12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FFFFFF"/>
                </a:solidFill>
              </a:rPr>
              <a:t>Presentation Title goes here.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90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89970326_FPO.jpg"/>
          <p:cNvPicPr>
            <a:picLocks/>
          </p:cNvPicPr>
          <p:nvPr/>
        </p:nvPicPr>
        <p:blipFill>
          <a:blip r:embed="rId2"/>
          <a:srcRect r="4291" b="18048"/>
          <a:stretch>
            <a:fillRect/>
          </a:stretch>
        </p:blipFill>
        <p:spPr bwMode="auto">
          <a:xfrm>
            <a:off x="1666875" y="1482725"/>
            <a:ext cx="7477125" cy="53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7" descr="ITT_PPT_divider_taupe2.png"/>
          <p:cNvPicPr>
            <a:picLocks noChangeAspect="1"/>
          </p:cNvPicPr>
          <p:nvPr/>
        </p:nvPicPr>
        <p:blipFill>
          <a:blip r:embed="rId3"/>
          <a:srcRect l="4668" r="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64113" y="0"/>
            <a:ext cx="4179887" cy="1806575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rgbClr val="828381"/>
            </a:solidFill>
            <a:miter lim="800000"/>
            <a:headEnd/>
            <a:tailEnd/>
          </a:ln>
        </p:spPr>
        <p:txBody>
          <a:bodyPr/>
          <a:lstStyle>
            <a:lvl1pPr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1pPr>
            <a:lvl2pPr marL="742950" indent="-28575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2pPr>
            <a:lvl3pPr marL="11430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3pPr>
            <a:lvl4pPr marL="16002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4pPr>
            <a:lvl5pPr marL="2057400" indent="-228600" algn="ctr" defTabSz="457200" eaLnBrk="0" hangingPunct="0"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an image that relates to the presentation subject.</a:t>
            </a: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Do not use more than one image!</a:t>
            </a:r>
          </a:p>
          <a:p>
            <a:pPr algn="l" eaLnBrk="1" hangingPunct="1">
              <a:defRPr/>
            </a:pPr>
            <a:endParaRPr lang="en-US" sz="10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Changing a photo in the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 your menu bar select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View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Slide Master</a:t>
            </a:r>
            <a:r>
              <a:rPr lang="ja-JP" alt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Go to the Title Slide Master you wish to change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Select the image and delete 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Insert new image/photo on page and crop/resize to fit image area</a:t>
            </a:r>
          </a:p>
          <a:p>
            <a:pPr algn="l" eaLnBrk="1" hangingPunct="1">
              <a:defRPr/>
            </a:pP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Once the new image placement is finalized, select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Arrange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 &gt; 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“</a:t>
            </a:r>
            <a:r>
              <a:rPr lang="en-US" sz="1000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Send to back</a:t>
            </a:r>
            <a:r>
              <a:rPr lang="ja-JP" altLang="en-US" sz="1000" dirty="0">
                <a:solidFill>
                  <a:srgbClr val="A7A9AC"/>
                </a:solidFill>
                <a:cs typeface="ＭＳ Ｐゴシック" charset="0"/>
              </a:rPr>
              <a:t>”</a:t>
            </a:r>
            <a:endParaRPr lang="en-US" sz="1000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endParaRPr lang="en-US" sz="900" b="1" dirty="0">
              <a:solidFill>
                <a:srgbClr val="A7A9AC"/>
              </a:solidFill>
              <a:latin typeface="Calibri" charset="0"/>
              <a:cs typeface="ＭＳ Ｐゴシック" charset="0"/>
            </a:endParaRPr>
          </a:p>
          <a:p>
            <a:pPr algn="l" eaLnBrk="1" hangingPunct="1">
              <a:defRPr/>
            </a:pPr>
            <a:r>
              <a:rPr lang="en-US" sz="1000" b="1" dirty="0">
                <a:solidFill>
                  <a:srgbClr val="A7A9AC"/>
                </a:solidFill>
                <a:latin typeface="Calibri" charset="0"/>
                <a:cs typeface="ＭＳ Ｐゴシック" charset="0"/>
              </a:rPr>
              <a:t>Delete these instructions before final use.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75320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ITT_PPT_divider2_blu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70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TT_PPT_divider2_orange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163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12301-ITT08_fpo.jpg"/>
          <p:cNvPicPr>
            <a:picLocks noChangeAspect="1"/>
          </p:cNvPicPr>
          <p:nvPr/>
        </p:nvPicPr>
        <p:blipFill>
          <a:blip r:embed="rId2"/>
          <a:srcRect l="18" t="12054" r="20081" b="-92"/>
          <a:stretch>
            <a:fillRect/>
          </a:stretch>
        </p:blipFill>
        <p:spPr bwMode="auto">
          <a:xfrm>
            <a:off x="1838325" y="0"/>
            <a:ext cx="7305675" cy="536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ITT_PPT_divider2_blu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3512"/>
            <a:ext cx="4572000" cy="2532888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527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tt logo_fpo.jpg"/>
          <p:cNvPicPr>
            <a:picLocks noChangeAspect="1"/>
          </p:cNvPicPr>
          <p:nvPr/>
        </p:nvPicPr>
        <p:blipFill>
          <a:blip r:embed="rId2"/>
          <a:srcRect t="20422" r="7356"/>
          <a:stretch>
            <a:fillRect/>
          </a:stretch>
        </p:blipFill>
        <p:spPr bwMode="auto">
          <a:xfrm>
            <a:off x="1663700" y="0"/>
            <a:ext cx="7480300" cy="514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9" descr="ITT_PPT_divider2_orange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logo_rev.png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953512"/>
            <a:ext cx="4572000" cy="2530139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286000"/>
            <a:ext cx="4572000" cy="667512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22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Section Header - w/image Ta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TT_PPT_divider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logo_rev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91250"/>
            <a:ext cx="7397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0" y="3429000"/>
            <a:ext cx="3867912" cy="2530139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846320" y="457200"/>
            <a:ext cx="3867912" cy="66751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226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4752"/>
            <a:ext cx="403860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3920" y="1444751"/>
            <a:ext cx="403860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337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4752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56904"/>
            <a:ext cx="4040188" cy="3951288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0745" y="1444752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0745" y="2156904"/>
            <a:ext cx="4041775" cy="3951288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52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84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34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3050"/>
            <a:ext cx="8275320" cy="978408"/>
          </a:xfrm>
        </p:spPr>
        <p:txBody>
          <a:bodyPr>
            <a:normAutofit/>
          </a:bodyPr>
          <a:lstStyle>
            <a:lvl1pPr algn="l"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0769" y="1444752"/>
            <a:ext cx="5111750" cy="466344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44752"/>
            <a:ext cx="3008313" cy="466344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18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75320" cy="978408"/>
          </a:xfrm>
        </p:spPr>
        <p:txBody>
          <a:bodyPr>
            <a:normAutofit/>
          </a:bodyPr>
          <a:lstStyle>
            <a:lvl1pPr algn="l">
              <a:defRPr sz="3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2314306"/>
            <a:ext cx="8275320" cy="3793886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44752"/>
            <a:ext cx="8275320" cy="80486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7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75638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444625"/>
            <a:ext cx="8275638" cy="466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65925" y="6345238"/>
            <a:ext cx="1317625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 smtClean="0">
                <a:solidFill>
                  <a:schemeClr val="tx1"/>
                </a:solidFill>
                <a:ea typeface="ヒラギノ角ゴ Pro W3" charset="0"/>
                <a:cs typeface="+mn-cs"/>
              </a:defRPr>
            </a:lvl1pPr>
          </a:lstStyle>
          <a:p>
            <a:fld id="{8D2DD769-A476-4425-8387-BC328636E27E}" type="datetimeFigureOut">
              <a:rPr lang="en-US" smtClean="0"/>
              <a:t>3/3/2020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5275" y="6345238"/>
            <a:ext cx="3317875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dirty="0" smtClean="0">
                <a:solidFill>
                  <a:srgbClr val="000000"/>
                </a:solidFill>
                <a:ea typeface="ヒラギノ角ゴ Pro W3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650" y="6345238"/>
            <a:ext cx="338138" cy="238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 smtClean="0">
                <a:solidFill>
                  <a:srgbClr val="000000"/>
                </a:solidFill>
                <a:ea typeface="ヒラギノ角ゴ Pro W3" charset="0"/>
                <a:cs typeface="+mn-cs"/>
              </a:defRPr>
            </a:lvl1pPr>
          </a:lstStyle>
          <a:p>
            <a:fld id="{62494CBF-E979-4611-81F5-BBDD56886B0E}" type="slidenum">
              <a:rPr lang="en-US" smtClean="0"/>
              <a:t>‹#›</a:t>
            </a:fld>
            <a:endParaRPr lang="en-US"/>
          </a:p>
        </p:txBody>
      </p:sp>
      <p:pic>
        <p:nvPicPr>
          <p:cNvPr id="1031" name="Picture 11" descr="logo.jpg"/>
          <p:cNvPicPr>
            <a:picLocks/>
          </p:cNvPicPr>
          <p:nvPr/>
        </p:nvPicPr>
        <p:blipFill>
          <a:blip r:embed="rId28"/>
          <a:srcRect/>
          <a:stretch>
            <a:fillRect/>
          </a:stretch>
        </p:blipFill>
        <p:spPr bwMode="auto">
          <a:xfrm>
            <a:off x="455613" y="6200775"/>
            <a:ext cx="739775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694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000" kern="1200">
          <a:solidFill>
            <a:srgbClr val="9D2235"/>
          </a:solidFill>
          <a:latin typeface="Arial"/>
          <a:ea typeface="+mj-ea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000">
          <a:solidFill>
            <a:srgbClr val="9D2235"/>
          </a:solidFill>
          <a:latin typeface="Arial" charset="0"/>
          <a:cs typeface="Arial" charset="0"/>
        </a:defRPr>
      </a:lvl9pPr>
    </p:titleStyle>
    <p:bodyStyle>
      <a:lvl1pPr marL="169863" indent="-169863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1pPr>
      <a:lvl2pPr marL="398463" indent="-1778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2pPr>
      <a:lvl3pPr marL="627063" indent="-168275" algn="l" defTabSz="457200" rtl="0" eaLnBrk="1" fontAlgn="base" hangingPunct="1">
        <a:spcBef>
          <a:spcPct val="20000"/>
        </a:spcBef>
        <a:spcAft>
          <a:spcPct val="0"/>
        </a:spcAft>
        <a:buFont typeface="Lucida Grande" pitchFamily="2" charset="0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3pPr>
      <a:lvl4pPr marL="855663" indent="-228600" algn="l" defTabSz="457200" rtl="0" eaLnBrk="1" fontAlgn="base" hangingPunct="1">
        <a:spcBef>
          <a:spcPct val="20000"/>
        </a:spcBef>
        <a:spcAft>
          <a:spcPct val="0"/>
        </a:spcAft>
        <a:buFont typeface="Calibri" pitchFamily="34" charset="0"/>
        <a:buAutoNum type="arabicPeriod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033463" indent="-169863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smtClean="0">
                <a:latin typeface="Arial" panose="020B0604020202020204" pitchFamily="34" charset="0"/>
              </a:rPr>
              <a:t>Project ID: 1 </a:t>
            </a:r>
            <a:br>
              <a:rPr lang="en-US" sz="2400" smtClean="0">
                <a:latin typeface="Arial" panose="020B0604020202020204" pitchFamily="34" charset="0"/>
              </a:rPr>
            </a:br>
            <a:r>
              <a:rPr lang="en-US" sz="2400" smtClean="0">
                <a:latin typeface="Arial" panose="020B0604020202020204" pitchFamily="34" charset="0"/>
              </a:rPr>
              <a:t>Project Name: Test lalal</a:t>
            </a:r>
            <a:endParaRPr lang="en-US" sz="2400">
              <a:latin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Review: Gate 1 </a:t>
            </a:r>
          </a:p>
          <a:p>
            <a:r>
              <a:rPr lang="en-US" smtClean="0"/>
              <a:t>Date: 03/03/2020 </a:t>
            </a:r>
          </a:p>
          <a:p>
            <a:r>
              <a:rPr lang="en-US" smtClean="0"/>
              <a:t>Program Manager: georgia.kalyva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5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Schedules (Page 1)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4896119"/>
              </p:ext>
            </p:extLst>
          </p:nvPr>
        </p:nvGraphicFramePr>
        <p:xfrm>
          <a:off x="457200" y="1444625"/>
          <a:ext cx="8275638" cy="466407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137819">
                  <a:extLst>
                    <a:ext uri="{9D8B030D-6E8A-4147-A177-3AD203B41FA5}">
                      <a16:colId xmlns:a16="http://schemas.microsoft.com/office/drawing/2014/main" val="3854789316"/>
                    </a:ext>
                  </a:extLst>
                </a:gridCol>
                <a:gridCol w="4137819">
                  <a:extLst>
                    <a:ext uri="{9D8B030D-6E8A-4147-A177-3AD203B41FA5}">
                      <a16:colId xmlns:a16="http://schemas.microsoft.com/office/drawing/2014/main" val="96674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Milestone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Date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138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Gate 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717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Design concept(s)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864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Gate 2 / Gate A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915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Draft manufacturing drawings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1226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Design Review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021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Submit PAR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465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Release Product Documentation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241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Create Samples / Prototypes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03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DVT testing &amp; Test Report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798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Gate 3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36532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4CBF-E979-4611-81F5-BBDD56886B0E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AF04B-3606-42AE-9361-E11AD3BA24A8}" type="datetime1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                                                Gate 1 Review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6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Schedules (Page 2)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7103035"/>
              </p:ext>
            </p:extLst>
          </p:nvPr>
        </p:nvGraphicFramePr>
        <p:xfrm>
          <a:off x="457200" y="1444625"/>
          <a:ext cx="8275638" cy="466407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137819">
                  <a:extLst>
                    <a:ext uri="{9D8B030D-6E8A-4147-A177-3AD203B41FA5}">
                      <a16:colId xmlns:a16="http://schemas.microsoft.com/office/drawing/2014/main" val="362774234"/>
                    </a:ext>
                  </a:extLst>
                </a:gridCol>
                <a:gridCol w="4137819">
                  <a:extLst>
                    <a:ext uri="{9D8B030D-6E8A-4147-A177-3AD203B41FA5}">
                      <a16:colId xmlns:a16="http://schemas.microsoft.com/office/drawing/2014/main" val="3964521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Milestone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Date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39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Design concept(s)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022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Draft manufacturing drawings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767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Submit PAR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3619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Create Samples / Prototypes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885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Gate 3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796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Qualification Testing &amp; Test Report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8958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Gate 4 / Gate B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03/03/2020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771597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4CBF-E979-4611-81F5-BBDD56886B0E}" type="slidenum">
              <a:rPr lang="en-US" smtClean="0"/>
              <a:t>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8DEF-C5FF-4A72-BBBA-E5BE43017F79}" type="datetime1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                                                Gate 1 Review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Product Infringement Patentability (Page 1)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9725715"/>
              </p:ext>
            </p:extLst>
          </p:nvPr>
        </p:nvGraphicFramePr>
        <p:xfrm>
          <a:off x="457200" y="1444625"/>
          <a:ext cx="8275638" cy="466407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137819">
                  <a:extLst>
                    <a:ext uri="{9D8B030D-6E8A-4147-A177-3AD203B41FA5}">
                      <a16:colId xmlns:a16="http://schemas.microsoft.com/office/drawing/2014/main" val="3934918025"/>
                    </a:ext>
                  </a:extLst>
                </a:gridCol>
                <a:gridCol w="4137819">
                  <a:extLst>
                    <a:ext uri="{9D8B030D-6E8A-4147-A177-3AD203B41FA5}">
                      <a16:colId xmlns:a16="http://schemas.microsoft.com/office/drawing/2014/main" val="3066573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Description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Value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2697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Contains Infingment Issues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Yes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902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Patent Number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234567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1914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Issue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56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3072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Mitigation Strategy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56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7303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Contains Features Requiring IP Protection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Yes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945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Invention Disclosure Submitted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Yes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988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Product First Time Offered For Sale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01/01/2020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39075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4CBF-E979-4611-81F5-BBDD56886B0E}" type="slidenum">
              <a:rPr lang="en-US" smtClean="0"/>
              <a:t>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F8178-F7BC-4E7D-9C08-DC655A4B4023}" type="datetime1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                                                Gate 1 Review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81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Risk Analysis (Page 1)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6931792"/>
              </p:ext>
            </p:extLst>
          </p:nvPr>
        </p:nvGraphicFramePr>
        <p:xfrm>
          <a:off x="457200" y="1444625"/>
          <a:ext cx="8275638" cy="466407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068910">
                  <a:extLst>
                    <a:ext uri="{9D8B030D-6E8A-4147-A177-3AD203B41FA5}">
                      <a16:colId xmlns:a16="http://schemas.microsoft.com/office/drawing/2014/main" val="3918017133"/>
                    </a:ext>
                  </a:extLst>
                </a:gridCol>
                <a:gridCol w="2068910">
                  <a:extLst>
                    <a:ext uri="{9D8B030D-6E8A-4147-A177-3AD203B41FA5}">
                      <a16:colId xmlns:a16="http://schemas.microsoft.com/office/drawing/2014/main" val="3222526791"/>
                    </a:ext>
                  </a:extLst>
                </a:gridCol>
                <a:gridCol w="2068910">
                  <a:extLst>
                    <a:ext uri="{9D8B030D-6E8A-4147-A177-3AD203B41FA5}">
                      <a16:colId xmlns:a16="http://schemas.microsoft.com/office/drawing/2014/main" val="3451976182"/>
                    </a:ext>
                  </a:extLst>
                </a:gridCol>
                <a:gridCol w="2068910">
                  <a:extLst>
                    <a:ext uri="{9D8B030D-6E8A-4147-A177-3AD203B41FA5}">
                      <a16:colId xmlns:a16="http://schemas.microsoft.com/office/drawing/2014/main" val="3264775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Risk Type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Risk Impact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475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low risk item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10.00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Cost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405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medium risk item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30.00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Cost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68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almost high risk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50.00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Schedule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1002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high risk item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80.00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Schedule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3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081584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4CBF-E979-4611-81F5-BBDD56886B0E}" type="slidenum">
              <a:rPr lang="en-US" smtClean="0"/>
              <a:t>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C6B5-157B-4E43-B3A7-1EFD5BA98003}" type="datetime1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                                                Gate 1 Review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82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Investment Plan (Page 1)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0849143"/>
              </p:ext>
            </p:extLst>
          </p:nvPr>
        </p:nvGraphicFramePr>
        <p:xfrm>
          <a:off x="457200" y="1444625"/>
          <a:ext cx="8275638" cy="466407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137819">
                  <a:extLst>
                    <a:ext uri="{9D8B030D-6E8A-4147-A177-3AD203B41FA5}">
                      <a16:colId xmlns:a16="http://schemas.microsoft.com/office/drawing/2014/main" val="513534794"/>
                    </a:ext>
                  </a:extLst>
                </a:gridCol>
                <a:gridCol w="4137819">
                  <a:extLst>
                    <a:ext uri="{9D8B030D-6E8A-4147-A177-3AD203B41FA5}">
                      <a16:colId xmlns:a16="http://schemas.microsoft.com/office/drawing/2014/main" val="3108017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Description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Value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933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Item Number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12345678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3911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Item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234567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459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Purchased From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34567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589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Ship To location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43567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694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Cost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23456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584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Terms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3546788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38369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4CBF-E979-4611-81F5-BBDD56886B0E}" type="slidenum">
              <a:rPr lang="en-US" smtClean="0"/>
              <a:t>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8D9D3-58B8-42FD-A1D9-A84A9AB3DBF7}" type="datetime1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                                                Gate 1 Review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02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Business Case (Page 1)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777144"/>
              </p:ext>
            </p:extLst>
          </p:nvPr>
        </p:nvGraphicFramePr>
        <p:xfrm>
          <a:off x="457200" y="1444625"/>
          <a:ext cx="8275638" cy="466407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137819">
                  <a:extLst>
                    <a:ext uri="{9D8B030D-6E8A-4147-A177-3AD203B41FA5}">
                      <a16:colId xmlns:a16="http://schemas.microsoft.com/office/drawing/2014/main" val="4056768222"/>
                    </a:ext>
                  </a:extLst>
                </a:gridCol>
                <a:gridCol w="4137819">
                  <a:extLst>
                    <a:ext uri="{9D8B030D-6E8A-4147-A177-3AD203B41FA5}">
                      <a16:colId xmlns:a16="http://schemas.microsoft.com/office/drawing/2014/main" val="28159106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Description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Value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840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Will Customer Fund Qual?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Yes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972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Will Customer Fund Tooling?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Yes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920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Probabilty Of Win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45.00%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8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Target First Year Gross Margin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5.00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490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Financial Start Year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2020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49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Discount Rate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5.00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0561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TaxRate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34.00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038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Labor Rate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20.00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595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Gpa Requirements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fghjjkk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72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Multiple Fields Generated Table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39375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4CBF-E979-4611-81F5-BBDD56886B0E}" type="slidenum">
              <a:rPr lang="en-US" smtClean="0"/>
              <a:t>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392CC-426B-451A-96DA-FD47AE7C2F63}" type="datetime1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                                                Gate 1 Review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73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Business Case (Page 2)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7872360"/>
              </p:ext>
            </p:extLst>
          </p:nvPr>
        </p:nvGraphicFramePr>
        <p:xfrm>
          <a:off x="457200" y="1444625"/>
          <a:ext cx="8275638" cy="466407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137819">
                  <a:extLst>
                    <a:ext uri="{9D8B030D-6E8A-4147-A177-3AD203B41FA5}">
                      <a16:colId xmlns:a16="http://schemas.microsoft.com/office/drawing/2014/main" val="3682123319"/>
                    </a:ext>
                  </a:extLst>
                </a:gridCol>
                <a:gridCol w="4137819">
                  <a:extLst>
                    <a:ext uri="{9D8B030D-6E8A-4147-A177-3AD203B41FA5}">
                      <a16:colId xmlns:a16="http://schemas.microsoft.com/office/drawing/2014/main" val="33826423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Description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Value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423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Will Customer Fund Tooling?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Yes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873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Target First Year Gross Margin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5.00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48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Discount Rate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5.00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9698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Labor Rate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20.00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80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Multiple Fields Generated Table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25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Work Requirement Amount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856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Add To Tecnical Abilities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dfghj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646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Time From Project Completion To Revenue Generation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34545.00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58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Changes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True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227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ROI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50514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4CBF-E979-4611-81F5-BBDD56886B0E}" type="slidenum">
              <a:rPr lang="en-US" smtClean="0"/>
              <a:t>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1F1B4-1A23-4FDB-B4FF-298E28F5FF6E}" type="datetime1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                                                Gate 1 Review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02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Project GPA (Page 1)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3581927"/>
              </p:ext>
            </p:extLst>
          </p:nvPr>
        </p:nvGraphicFramePr>
        <p:xfrm>
          <a:off x="457200" y="1444625"/>
          <a:ext cx="8275638" cy="466407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034455">
                  <a:extLst>
                    <a:ext uri="{9D8B030D-6E8A-4147-A177-3AD203B41FA5}">
                      <a16:colId xmlns:a16="http://schemas.microsoft.com/office/drawing/2014/main" val="2194071919"/>
                    </a:ext>
                  </a:extLst>
                </a:gridCol>
                <a:gridCol w="1034455">
                  <a:extLst>
                    <a:ext uri="{9D8B030D-6E8A-4147-A177-3AD203B41FA5}">
                      <a16:colId xmlns:a16="http://schemas.microsoft.com/office/drawing/2014/main" val="508667574"/>
                    </a:ext>
                  </a:extLst>
                </a:gridCol>
                <a:gridCol w="1034455">
                  <a:extLst>
                    <a:ext uri="{9D8B030D-6E8A-4147-A177-3AD203B41FA5}">
                      <a16:colId xmlns:a16="http://schemas.microsoft.com/office/drawing/2014/main" val="2172857853"/>
                    </a:ext>
                  </a:extLst>
                </a:gridCol>
                <a:gridCol w="1034455">
                  <a:extLst>
                    <a:ext uri="{9D8B030D-6E8A-4147-A177-3AD203B41FA5}">
                      <a16:colId xmlns:a16="http://schemas.microsoft.com/office/drawing/2014/main" val="48067594"/>
                    </a:ext>
                  </a:extLst>
                </a:gridCol>
                <a:gridCol w="1034455">
                  <a:extLst>
                    <a:ext uri="{9D8B030D-6E8A-4147-A177-3AD203B41FA5}">
                      <a16:colId xmlns:a16="http://schemas.microsoft.com/office/drawing/2014/main" val="1443814573"/>
                    </a:ext>
                  </a:extLst>
                </a:gridCol>
                <a:gridCol w="1034455">
                  <a:extLst>
                    <a:ext uri="{9D8B030D-6E8A-4147-A177-3AD203B41FA5}">
                      <a16:colId xmlns:a16="http://schemas.microsoft.com/office/drawing/2014/main" val="3730087296"/>
                    </a:ext>
                  </a:extLst>
                </a:gridCol>
                <a:gridCol w="1034455">
                  <a:extLst>
                    <a:ext uri="{9D8B030D-6E8A-4147-A177-3AD203B41FA5}">
                      <a16:colId xmlns:a16="http://schemas.microsoft.com/office/drawing/2014/main" val="1774545995"/>
                    </a:ext>
                  </a:extLst>
                </a:gridCol>
                <a:gridCol w="1034455">
                  <a:extLst>
                    <a:ext uri="{9D8B030D-6E8A-4147-A177-3AD203B41FA5}">
                      <a16:colId xmlns:a16="http://schemas.microsoft.com/office/drawing/2014/main" val="3368710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Year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Quantity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Standard Cost Estimated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Sales Price Estimated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Cost Extended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Revenue Extended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Standard Margin Price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Standard Margin Price %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60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2020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61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2021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3966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2022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69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2023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16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Total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-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-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22786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4CBF-E979-4611-81F5-BBDD56886B0E}" type="slidenum">
              <a:rPr lang="en-US" smtClean="0"/>
              <a:t>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6A1B9-9973-4F21-BB3D-66904842FB77}" type="datetime1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                                                Gate 1 Review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46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Project Expenses (Page 1)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270194"/>
              </p:ext>
            </p:extLst>
          </p:nvPr>
        </p:nvGraphicFramePr>
        <p:xfrm>
          <a:off x="457200" y="1444625"/>
          <a:ext cx="8275638" cy="466407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379273">
                  <a:extLst>
                    <a:ext uri="{9D8B030D-6E8A-4147-A177-3AD203B41FA5}">
                      <a16:colId xmlns:a16="http://schemas.microsoft.com/office/drawing/2014/main" val="283573923"/>
                    </a:ext>
                  </a:extLst>
                </a:gridCol>
                <a:gridCol w="1379273">
                  <a:extLst>
                    <a:ext uri="{9D8B030D-6E8A-4147-A177-3AD203B41FA5}">
                      <a16:colId xmlns:a16="http://schemas.microsoft.com/office/drawing/2014/main" val="274161187"/>
                    </a:ext>
                  </a:extLst>
                </a:gridCol>
                <a:gridCol w="1379273">
                  <a:extLst>
                    <a:ext uri="{9D8B030D-6E8A-4147-A177-3AD203B41FA5}">
                      <a16:colId xmlns:a16="http://schemas.microsoft.com/office/drawing/2014/main" val="1923440815"/>
                    </a:ext>
                  </a:extLst>
                </a:gridCol>
                <a:gridCol w="1379273">
                  <a:extLst>
                    <a:ext uri="{9D8B030D-6E8A-4147-A177-3AD203B41FA5}">
                      <a16:colId xmlns:a16="http://schemas.microsoft.com/office/drawing/2014/main" val="2203024056"/>
                    </a:ext>
                  </a:extLst>
                </a:gridCol>
                <a:gridCol w="1379273">
                  <a:extLst>
                    <a:ext uri="{9D8B030D-6E8A-4147-A177-3AD203B41FA5}">
                      <a16:colId xmlns:a16="http://schemas.microsoft.com/office/drawing/2014/main" val="2215012411"/>
                    </a:ext>
                  </a:extLst>
                </a:gridCol>
                <a:gridCol w="1379273">
                  <a:extLst>
                    <a:ext uri="{9D8B030D-6E8A-4147-A177-3AD203B41FA5}">
                      <a16:colId xmlns:a16="http://schemas.microsoft.com/office/drawing/2014/main" val="17717586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Year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GPA Capital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GPA Expense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Qual Costs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Other Development Expenses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Total Expenses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976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2020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78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2021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92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2022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598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2023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253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Total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4.00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16.00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97241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4CBF-E979-4611-81F5-BBDD56886B0E}" type="slidenum">
              <a:rPr lang="en-US" smtClean="0"/>
              <a:t>10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7C26-A4FC-4510-819E-559EE44F1AF7}" type="datetime1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                                                Gate 1 Review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0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Post Launch Review (Page 1)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365527"/>
              </p:ext>
            </p:extLst>
          </p:nvPr>
        </p:nvGraphicFramePr>
        <p:xfrm>
          <a:off x="457200" y="1444625"/>
          <a:ext cx="8275638" cy="466407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137819">
                  <a:extLst>
                    <a:ext uri="{9D8B030D-6E8A-4147-A177-3AD203B41FA5}">
                      <a16:colId xmlns:a16="http://schemas.microsoft.com/office/drawing/2014/main" val="2156274699"/>
                    </a:ext>
                  </a:extLst>
                </a:gridCol>
                <a:gridCol w="4137819">
                  <a:extLst>
                    <a:ext uri="{9D8B030D-6E8A-4147-A177-3AD203B41FA5}">
                      <a16:colId xmlns:a16="http://schemas.microsoft.com/office/drawing/2014/main" val="1056083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Description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Value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752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Whas was done well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sdfghjk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345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Whas was done poorly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dfghj,k.l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2053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Bottlenecks or obstacles encountered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fghjk,.l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736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Actual VS Expected Results comparison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fghjk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18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Commercial success or failure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ghjk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986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Lessons learned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fdghjk.l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96726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94CBF-E979-4611-81F5-BBDD56886B0E}" type="slidenum">
              <a:rPr lang="en-US" smtClean="0"/>
              <a:t>11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DCDC9-0068-425B-9086-75670520E680}" type="datetime1">
              <a:rPr lang="en-US" smtClean="0"/>
              <a:t>3/3/2020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                                                Gate 1 Review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9065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ITT color palette">
      <a:dk1>
        <a:sysClr val="windowText" lastClr="000000"/>
      </a:dk1>
      <a:lt1>
        <a:sysClr val="window" lastClr="FFFFFF"/>
      </a:lt1>
      <a:dk2>
        <a:srgbClr val="5B6770"/>
      </a:dk2>
      <a:lt2>
        <a:srgbClr val="D6D2C4"/>
      </a:lt2>
      <a:accent1>
        <a:srgbClr val="4C4184"/>
      </a:accent1>
      <a:accent2>
        <a:srgbClr val="642F6C"/>
      </a:accent2>
      <a:accent3>
        <a:srgbClr val="7D2248"/>
      </a:accent3>
      <a:accent4>
        <a:srgbClr val="9D2235"/>
      </a:accent4>
      <a:accent5>
        <a:srgbClr val="D45D00"/>
      </a:accent5>
      <a:accent6>
        <a:srgbClr val="00859B"/>
      </a:accent6>
      <a:hlink>
        <a:srgbClr val="008264"/>
      </a:hlink>
      <a:folHlink>
        <a:srgbClr val="9493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" id="{619F8B6C-59BC-4EEA-BC7B-5BA4CB2C3E62}" vid="{9E2200A6-F187-49C1-9E9C-D505637269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513</Words>
  <Application>Microsoft Office PowerPoint</Application>
  <PresentationFormat>On-screen Show (4:3)</PresentationFormat>
  <Paragraphs>272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ヒラギノ角ゴ Pro W3</vt:lpstr>
      <vt:lpstr>Arial</vt:lpstr>
      <vt:lpstr>Lucida Grande</vt:lpstr>
      <vt:lpstr>ＭＳ Ｐゴシック</vt:lpstr>
      <vt:lpstr>Theme</vt:lpstr>
      <vt:lpstr>Project ID: 1  Project Name: Test lalal</vt:lpstr>
      <vt:lpstr>Schedules (Page 1)</vt:lpstr>
      <vt:lpstr>Schedules (Page 2)</vt:lpstr>
      <vt:lpstr>Product Infringement Patentability (Page 1)</vt:lpstr>
      <vt:lpstr>Risk Analysis (Page 1)</vt:lpstr>
      <vt:lpstr>Investment Plan (Page 1)</vt:lpstr>
      <vt:lpstr>Business Case (Page 1)</vt:lpstr>
      <vt:lpstr>Business Case (Page 2)</vt:lpstr>
      <vt:lpstr>Project GPA (Page 1)</vt:lpstr>
      <vt:lpstr>Project Expenses (Page 1)</vt:lpstr>
      <vt:lpstr>Post Launch Review (Page 1)</vt:lpstr>
    </vt:vector>
  </TitlesOfParts>
  <Company>ITT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ID: 1  Project Name: Test lalal</dc:title>
  <dc:creator>Kalyva, Georgia</dc:creator>
  <cp:lastModifiedBy>Kalyva, Georgia</cp:lastModifiedBy>
  <cp:revision>1</cp:revision>
  <dcterms:created xsi:type="dcterms:W3CDTF">2020-03-03T13:22:44Z</dcterms:created>
  <dcterms:modified xsi:type="dcterms:W3CDTF">2020-03-03T13:23:00Z</dcterms:modified>
</cp:coreProperties>
</file>